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8d0b1049d394dc5" /><Relationship Type="http://schemas.openxmlformats.org/officeDocument/2006/relationships/extended-properties" Target="/docProps/app.xml" Id="R286c75b69b1d46c9" /><Relationship Type="http://schemas.openxmlformats.org/officeDocument/2006/relationships/officeDocument" Target="/ppt/presentation.xml" Id="Rb905620691b34ed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9bd8a7e662b4525"/>
  </p:sldMasterIdLst>
  <p:notesMasterIdLst>
    <p:notesMasterId xmlns:r="http://schemas.openxmlformats.org/officeDocument/2006/relationships" r:id="Rb457a742e81f497c"/>
  </p:notesMasterIdLst>
  <p:sldIdLst>
    <p:sldId xmlns:r="http://schemas.openxmlformats.org/officeDocument/2006/relationships" id="256" r:id="R12e8d4aace994900"/>
    <p:sldId xmlns:r="http://schemas.openxmlformats.org/officeDocument/2006/relationships" id="257" r:id="R0204d882df0244a3"/>
    <p:sldId xmlns:r="http://schemas.openxmlformats.org/officeDocument/2006/relationships" id="258" r:id="Rb33c3e820e4746cf"/>
    <p:sldId xmlns:r="http://schemas.openxmlformats.org/officeDocument/2006/relationships" id="259" r:id="R0566bee1263246f1"/>
    <p:sldId xmlns:r="http://schemas.openxmlformats.org/officeDocument/2006/relationships" id="260" r:id="R07af76bfb2b347c7"/>
    <p:sldId xmlns:r="http://schemas.openxmlformats.org/officeDocument/2006/relationships" id="261" r:id="R9719a18fb9e94c17"/>
    <p:sldId xmlns:r="http://schemas.openxmlformats.org/officeDocument/2006/relationships" id="262" r:id="R4bdf9fecff9d4474"/>
    <p:sldId xmlns:r="http://schemas.openxmlformats.org/officeDocument/2006/relationships" id="263" r:id="R57a60d7c580645a8"/>
    <p:sldId xmlns:r="http://schemas.openxmlformats.org/officeDocument/2006/relationships" id="264" r:id="R8d099128f0074d94"/>
    <p:sldId xmlns:r="http://schemas.openxmlformats.org/officeDocument/2006/relationships" id="265" r:id="Rd46bfe58f7684bdf"/>
    <p:sldId xmlns:r="http://schemas.openxmlformats.org/officeDocument/2006/relationships" id="266" r:id="Rc272afaed16e47f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cc61c50a1254f7f" /><Relationship Type="http://schemas.openxmlformats.org/officeDocument/2006/relationships/slideMaster" Target="/ppt/slideMasters/slideMaster1.xml" Id="R69bd8a7e662b4525" /><Relationship Type="http://schemas.openxmlformats.org/officeDocument/2006/relationships/notesMaster" Target="/ppt/notesMasters/notesMaster1.xml" Id="Rb457a742e81f497c" /><Relationship Type="http://schemas.openxmlformats.org/officeDocument/2006/relationships/presProps" Target="/ppt/presProps.xml" Id="R2099111fdabe4fe7" /><Relationship Type="http://schemas.openxmlformats.org/officeDocument/2006/relationships/tableStyles" Target="/ppt/tableStyles.xml" Id="R0dcdb4d2de184dee" /><Relationship Type="http://schemas.openxmlformats.org/officeDocument/2006/relationships/slide" Target="/ppt/slides/slide1.xml" Id="R12e8d4aace994900" /><Relationship Type="http://schemas.openxmlformats.org/officeDocument/2006/relationships/slide" Target="/ppt/slides/slide2.xml" Id="R0204d882df0244a3" /><Relationship Type="http://schemas.openxmlformats.org/officeDocument/2006/relationships/slide" Target="/ppt/slides/slide3.xml" Id="Rb33c3e820e4746cf" /><Relationship Type="http://schemas.openxmlformats.org/officeDocument/2006/relationships/slide" Target="/ppt/slides/slide4.xml" Id="R0566bee1263246f1" /><Relationship Type="http://schemas.openxmlformats.org/officeDocument/2006/relationships/slide" Target="/ppt/slides/slide5.xml" Id="R07af76bfb2b347c7" /><Relationship Type="http://schemas.openxmlformats.org/officeDocument/2006/relationships/slide" Target="/ppt/slides/slide6.xml" Id="R9719a18fb9e94c17" /><Relationship Type="http://schemas.openxmlformats.org/officeDocument/2006/relationships/slide" Target="/ppt/slides/slide7.xml" Id="R4bdf9fecff9d4474" /><Relationship Type="http://schemas.openxmlformats.org/officeDocument/2006/relationships/slide" Target="/ppt/slides/slide8.xml" Id="R57a60d7c580645a8" /><Relationship Type="http://schemas.openxmlformats.org/officeDocument/2006/relationships/slide" Target="/ppt/slides/slide9.xml" Id="R8d099128f0074d94" /><Relationship Type="http://schemas.openxmlformats.org/officeDocument/2006/relationships/slide" Target="/ppt/slides/slide10.xml" Id="Rd46bfe58f7684bdf" /><Relationship Type="http://schemas.openxmlformats.org/officeDocument/2006/relationships/slide" Target="/ppt/slides/slide11.xml" Id="Rc272afaed16e47f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d5abed281a64f2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c586ee289634145" /><Relationship Type="http://schemas.openxmlformats.org/officeDocument/2006/relationships/notesMaster" Target="/ppt/notesMasters/notesMaster1.xml" Id="R65a6f0d90ee34c4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206729d90b949e7" /><Relationship Type="http://schemas.openxmlformats.org/officeDocument/2006/relationships/notesMaster" Target="/ppt/notesMasters/notesMaster1.xml" Id="Rdd4f25ae026c422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b8d4f823a5843e0" /><Relationship Type="http://schemas.openxmlformats.org/officeDocument/2006/relationships/notesMaster" Target="/ppt/notesMasters/notesMaster1.xml" Id="R696d8a598bfc49c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3ec70bf0b114069" /><Relationship Type="http://schemas.openxmlformats.org/officeDocument/2006/relationships/notesMaster" Target="/ppt/notesMasters/notesMaster1.xml" Id="R20589a0506244fc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65dbc51dc394d2a" /><Relationship Type="http://schemas.openxmlformats.org/officeDocument/2006/relationships/notesMaster" Target="/ppt/notesMasters/notesMaster1.xml" Id="R72c419da767e403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725d87b2eef4268" /><Relationship Type="http://schemas.openxmlformats.org/officeDocument/2006/relationships/notesMaster" Target="/ppt/notesMasters/notesMaster1.xml" Id="Re8c5712a3f5c48a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d3ba47465c24d3f" /><Relationship Type="http://schemas.openxmlformats.org/officeDocument/2006/relationships/notesMaster" Target="/ppt/notesMasters/notesMaster1.xml" Id="R01de5ed8dc2d47f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5015065ef914336" /><Relationship Type="http://schemas.openxmlformats.org/officeDocument/2006/relationships/notesMaster" Target="/ppt/notesMasters/notesMaster1.xml" Id="R3db0b2e949c746b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d30e130c7104259" /><Relationship Type="http://schemas.openxmlformats.org/officeDocument/2006/relationships/notesMaster" Target="/ppt/notesMasters/notesMaster1.xml" Id="Raffb0afced73403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75ba09680d94e9f" /><Relationship Type="http://schemas.openxmlformats.org/officeDocument/2006/relationships/notesMaster" Target="/ppt/notesMasters/notesMaster1.xml" Id="R45f96d8afb2c46d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1c69660817c45f1" /><Relationship Type="http://schemas.openxmlformats.org/officeDocument/2006/relationships/notesMaster" Target="/ppt/notesMasters/notesMaster1.xml" Id="R087f24d267ec41c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2f88fc10054df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8f49723a4284096" /><Relationship Type="http://schemas.openxmlformats.org/officeDocument/2006/relationships/slideLayout" Target="/ppt/slideLayouts/slideLayout1.xml" Id="R9e9fb542290b42a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e9fb542290b42a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03ee3b2b1e4b6f" /><Relationship Type="http://schemas.openxmlformats.org/officeDocument/2006/relationships/notesSlide" Target="/ppt/notesSlides/notesSlide1.xml" Id="Rbe765beda295497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cfa0c162b148c6" /><Relationship Type="http://schemas.openxmlformats.org/officeDocument/2006/relationships/notesSlide" Target="/ppt/notesSlides/notesSlide2.xml" Id="R8a08bb479e034ad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c754f50b9b49ae" /><Relationship Type="http://schemas.openxmlformats.org/officeDocument/2006/relationships/notesSlide" Target="/ppt/notesSlides/notesSlide3.xml" Id="Rf3bd3506723c486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09bd2bfc7c49b0" /><Relationship Type="http://schemas.openxmlformats.org/officeDocument/2006/relationships/notesSlide" Target="/ppt/notesSlides/notesSlide4.xml" Id="R872877d9a35c434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d565bbc7634971" /><Relationship Type="http://schemas.openxmlformats.org/officeDocument/2006/relationships/notesSlide" Target="/ppt/notesSlides/notesSlide5.xml" Id="Re45e9af83b3748b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3ad3d5f6be4e90" /><Relationship Type="http://schemas.openxmlformats.org/officeDocument/2006/relationships/notesSlide" Target="/ppt/notesSlides/notesSlide6.xml" Id="R36ffc3b6e420496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9c1048c926440b" /><Relationship Type="http://schemas.openxmlformats.org/officeDocument/2006/relationships/notesSlide" Target="/ppt/notesSlides/notesSlide7.xml" Id="R5a9c57b8f644418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c84c141ef046ca" /><Relationship Type="http://schemas.openxmlformats.org/officeDocument/2006/relationships/notesSlide" Target="/ppt/notesSlides/notesSlide8.xml" Id="Rddc79b26099341d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dc8f1236454798" /><Relationship Type="http://schemas.openxmlformats.org/officeDocument/2006/relationships/notesSlide" Target="/ppt/notesSlides/notesSlide9.xml" Id="R3b9def2ef251495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fea9702d504921" /><Relationship Type="http://schemas.openxmlformats.org/officeDocument/2006/relationships/notesSlide" Target="/ppt/notesSlides/notesSlide10.xml" Id="R5ab8373c5923475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f30c98060e49f9" /><Relationship Type="http://schemas.openxmlformats.org/officeDocument/2006/relationships/notesSlide" Target="/ppt/notesSlides/notesSlide11.xml" Id="R004949a8ce9543f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-3-1">
            <a:extLst xmlns:a="http://schemas.openxmlformats.org/drawingml/2006/main">
              <a:ext uri="{FF2B5EF4-FFF2-40B4-BE49-F238E27FC236}">
                <a16:creationId xmlns:a16="http://schemas.microsoft.com/office/drawing/2014/main" id="{7EEBE0C3-1A85-4EAE-832A-3D6CB4900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AI 商品经营
与利润决策助手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C9B9F5CD-B08E-46AD-9F9C-86BD417C6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42212"/>
            <a:ext cx="57023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用一张行动清单，统一利润、推广与补货决策
10—20 个真实 SPU｜每周生成｜轻闭环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6729A1C5-C818-4858-8E61-D4E5803F1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5702332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趣然电商 · 玩具事业部 · V0</a:t>
            </a:r>
          </a:p>
        </p:txBody>
      </p:sp>
      <p:sp>
        <p:nvSpPr>
          <p:cNvPr id="4" name="accent-1">
            <a:extLst xmlns:a="http://schemas.openxmlformats.org/drawingml/2006/main">
              <a:ext uri="{FF2B5EF4-FFF2-40B4-BE49-F238E27FC236}">
                <a16:creationId xmlns:a16="http://schemas.microsoft.com/office/drawing/2014/main" id="{CAE3445E-543E-4817-96B5-56DFE07C9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1450"/>
            <a:ext cx="1714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37819617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Rounded-Rectangle-5-1">
            <a:extLst xmlns:a="http://schemas.openxmlformats.org/drawingml/2006/main">
              <a:ext uri="{FF2B5EF4-FFF2-40B4-BE49-F238E27FC236}">
                <a16:creationId xmlns:a16="http://schemas.microsoft.com/office/drawing/2014/main" id="{F6680883-8F8D-4C15-8ECF-8D38FF832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Rounded-Rectangle-6-2">
            <a:extLst xmlns:a="http://schemas.openxmlformats.org/drawingml/2006/main">
              <a:ext uri="{FF2B5EF4-FFF2-40B4-BE49-F238E27FC236}">
                <a16:creationId xmlns:a16="http://schemas.microsoft.com/office/drawing/2014/main" id="{32189C54-97FC-47BB-9167-EAB89B07A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Rounded-Rectangle-7-3">
            <a:extLst xmlns:a="http://schemas.openxmlformats.org/drawingml/2006/main">
              <a:ext uri="{FF2B5EF4-FFF2-40B4-BE49-F238E27FC236}">
                <a16:creationId xmlns:a16="http://schemas.microsoft.com/office/drawing/2014/main" id="{952DC442-17A4-4584-A2B9-63257090D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Slide-Number-Placeholder-1-4">
            <a:extLst xmlns:a="http://schemas.openxmlformats.org/drawingml/2006/main">
              <a:ext uri="{FF2B5EF4-FFF2-40B4-BE49-F238E27FC236}">
                <a16:creationId xmlns:a16="http://schemas.microsoft.com/office/drawing/2014/main" id="{9BB4C5EF-BBE7-4392-9F9E-65B916261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02</a:t>
            </a:r>
          </a:p>
        </p:txBody>
      </p:sp>
      <p:sp>
        <p:nvSpPr>
          <p:cNvPr id="5" name="Title-2-5">
            <a:extLst xmlns:a="http://schemas.openxmlformats.org/drawingml/2006/main">
              <a:ext uri="{FF2B5EF4-FFF2-40B4-BE49-F238E27FC236}">
                <a16:creationId xmlns:a16="http://schemas.microsoft.com/office/drawing/2014/main" id="{960D2ABC-8176-4F7D-9724-35CCE5AEE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一张清单，统一利润、推广与补货动作</a:t>
            </a:r>
          </a:p>
        </p:txBody>
      </p:sp>
      <p:sp>
        <p:nvSpPr>
          <p:cNvPr id="6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4847FB9D-A70F-4EFF-B6C4-F335AEA09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80842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统一利润标准
分类、阈值与优先级固定</a:t>
            </a:r>
          </a:p>
        </p:txBody>
      </p:sp>
      <p:sp>
        <p:nvSpPr>
          <p:cNvPr id="7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C59D3535-0F34-466A-8BF9-28804BCE0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830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99479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保留全程追溯
批次到结果均留痕</a:t>
            </a:r>
          </a:p>
        </p:txBody>
      </p:sp>
      <p:sp>
        <p:nvSpPr>
          <p:cNvPr id="8" name="Content-Placeholder-11-8">
            <a:extLst xmlns:a="http://schemas.openxmlformats.org/drawingml/2006/main">
              <a:ext uri="{FF2B5EF4-FFF2-40B4-BE49-F238E27FC236}">
                <a16:creationId xmlns:a16="http://schemas.microsoft.com/office/drawing/2014/main" id="{16CA5F9B-0A6E-444B-9F85-E37B7D4EC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24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99479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阻断继续补货
止损/清仓同步禁补</a:t>
            </a:r>
          </a:p>
        </p:txBody>
      </p:sp>
      <p:sp>
        <p:nvSpPr>
          <p:cNvPr id="9" name="Content-Placeholder-9-9">
            <a:extLst xmlns:a="http://schemas.openxmlformats.org/drawingml/2006/main">
              <a:ext uri="{FF2B5EF4-FFF2-40B4-BE49-F238E27FC236}">
                <a16:creationId xmlns:a16="http://schemas.microsoft.com/office/drawing/2014/main" id="{001A7633-0416-4EC5-8500-15BE892E7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统一</a:t>
            </a:r>
          </a:p>
        </p:txBody>
      </p:sp>
      <p:sp>
        <p:nvSpPr>
          <p:cNvPr id="10" name="Content-Placeholder-9-10">
            <a:extLst xmlns:a="http://schemas.openxmlformats.org/drawingml/2006/main">
              <a:ext uri="{FF2B5EF4-FFF2-40B4-BE49-F238E27FC236}">
                <a16:creationId xmlns:a16="http://schemas.microsoft.com/office/drawing/2014/main" id="{765C9BCE-6DCD-4453-8146-320AE3A27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阻断</a:t>
            </a:r>
          </a:p>
        </p:txBody>
      </p:sp>
      <p:sp>
        <p:nvSpPr>
          <p:cNvPr id="11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E04B4FCD-45E2-4302-B520-B0BA01AC4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追溯</a:t>
            </a:r>
          </a:p>
        </p:txBody>
      </p:sp>
      <p:sp>
        <p:nvSpPr>
          <p:cNvPr id="12" name="Content-Placeholder-15-12">
            <a:extLst xmlns:a="http://schemas.openxmlformats.org/drawingml/2006/main">
              <a:ext uri="{FF2B5EF4-FFF2-40B4-BE49-F238E27FC236}">
                <a16:creationId xmlns:a16="http://schemas.microsoft.com/office/drawing/2014/main" id="{7DD91CE3-440C-4962-A135-89B51C93D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138333"/>
            <a:ext cx="11404568" cy="1599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固定规则生成主动作，AI 解释和排序，人工审核后执行。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</p:txBody>
      </p:sp>
      <p:sp>
        <p:nvSpPr>
          <p:cNvPr id="13" name="accent-2">
            <a:extLst xmlns:a="http://schemas.openxmlformats.org/drawingml/2006/main">
              <a:ext uri="{FF2B5EF4-FFF2-40B4-BE49-F238E27FC236}">
                <a16:creationId xmlns:a16="http://schemas.microsoft.com/office/drawing/2014/main" id="{95828317-B643-426A-AC9F-78F768447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1450"/>
            <a:ext cx="876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49993807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E821AC09-DC43-4CAC-9CC7-922A6BA97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03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7C7257FB-21CE-4549-BBDE-9A7DE1264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515 案例：止损晚了约 2 个月，补货却没有停</a:t>
            </a:r>
          </a:p>
        </p:txBody>
      </p:sp>
      <p:sp>
        <p:nvSpPr>
          <p:cNvPr id="3" name="Rounded-Rectangle-6-4">
            <a:extLst xmlns:a="http://schemas.openxmlformats.org/drawingml/2006/main">
              <a:ext uri="{FF2B5EF4-FFF2-40B4-BE49-F238E27FC236}">
                <a16:creationId xmlns:a16="http://schemas.microsoft.com/office/drawing/2014/main" id="{BDE2CB7B-BF99-4E60-9895-773B94920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2369820"/>
            <a:ext cx="553393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EC26A4FE-0E49-463C-B314-06CFAB382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77" y="2664809"/>
            <a:ext cx="4986909" cy="10484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02 月报后发现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约 2 个月后看到亏损</a:t>
            </a:r>
          </a:p>
        </p:txBody>
      </p:sp>
      <p:sp>
        <p:nvSpPr>
          <p:cNvPr id="5" name="Rounded-Rectangle-8-6">
            <a:extLst xmlns:a="http://schemas.openxmlformats.org/drawingml/2006/main">
              <a:ext uri="{FF2B5EF4-FFF2-40B4-BE49-F238E27FC236}">
                <a16:creationId xmlns:a16="http://schemas.microsoft.com/office/drawing/2014/main" id="{1627AAE1-979F-4FCD-ADEF-23C0CF2E5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04" y="2369820"/>
            <a:ext cx="553393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46CD85A1-E984-4BDD-8BC2-804533B85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9" y="2664809"/>
            <a:ext cx="4986909" cy="10484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01 亏损推广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忙碌屋前期亏损推广</a:t>
            </a:r>
          </a:p>
        </p:txBody>
      </p:sp>
      <p:sp>
        <p:nvSpPr>
          <p:cNvPr id="7" name="Rounded-Rectangle-1-8">
            <a:extLst xmlns:a="http://schemas.openxmlformats.org/drawingml/2006/main">
              <a:ext uri="{FF2B5EF4-FFF2-40B4-BE49-F238E27FC236}">
                <a16:creationId xmlns:a16="http://schemas.microsoft.com/office/drawing/2014/main" id="{7360AD2D-CB16-451F-8E29-B4AE3656D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4370070"/>
            <a:ext cx="553393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8" name="Content-Placeholder-10-9">
            <a:extLst xmlns:a="http://schemas.openxmlformats.org/drawingml/2006/main">
              <a:ext uri="{FF2B5EF4-FFF2-40B4-BE49-F238E27FC236}">
                <a16:creationId xmlns:a16="http://schemas.microsoft.com/office/drawing/2014/main" id="{87665E96-11DA-4FAD-A9D9-BC76BA6AB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77" y="4665059"/>
            <a:ext cx="4986909" cy="10484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04 采购仍补货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继续按旧销量补货</a:t>
            </a:r>
          </a:p>
        </p:txBody>
      </p:sp>
      <p:sp>
        <p:nvSpPr>
          <p:cNvPr id="9" name="Rounded-Rectangle-3-10">
            <a:extLst xmlns:a="http://schemas.openxmlformats.org/drawingml/2006/main">
              <a:ext uri="{FF2B5EF4-FFF2-40B4-BE49-F238E27FC236}">
                <a16:creationId xmlns:a16="http://schemas.microsoft.com/office/drawing/2014/main" id="{B84A6072-F298-4455-B265-DB3316A6E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04" y="4370070"/>
            <a:ext cx="553393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Content-Placeholder-10-11">
            <a:extLst xmlns:a="http://schemas.openxmlformats.org/drawingml/2006/main">
              <a:ext uri="{FF2B5EF4-FFF2-40B4-BE49-F238E27FC236}">
                <a16:creationId xmlns:a16="http://schemas.microsoft.com/office/drawing/2014/main" id="{B87116A2-5BD8-4A01-8EEA-C19B365F9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9" y="4665059"/>
            <a:ext cx="4986909" cy="10484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03 运营止损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减少推广但未同步采购</a:t>
            </a:r>
          </a:p>
        </p:txBody>
      </p:sp>
      <p:sp>
        <p:nvSpPr>
          <p:cNvPr id="11" name="Content-Placeholder-15-12">
            <a:extLst xmlns:a="http://schemas.openxmlformats.org/drawingml/2006/main">
              <a:ext uri="{FF2B5EF4-FFF2-40B4-BE49-F238E27FC236}">
                <a16:creationId xmlns:a16="http://schemas.microsoft.com/office/drawing/2014/main" id="{AF51918D-0CCF-4359-880C-615029D7B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057466"/>
            <a:ext cx="11404568" cy="10122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损失来自发现滞后和跨部门动作断裂，不只是一个利润指标没被看到。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</p:txBody>
      </p:sp>
      <p:sp>
        <p:nvSpPr>
          <p:cNvPr id="12" name="accent-3">
            <a:extLst xmlns:a="http://schemas.openxmlformats.org/drawingml/2006/main">
              <a:ext uri="{FF2B5EF4-FFF2-40B4-BE49-F238E27FC236}">
                <a16:creationId xmlns:a16="http://schemas.microsoft.com/office/drawing/2014/main" id="{1EA0271F-50D2-40B4-9A9C-6D2286230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1450"/>
            <a:ext cx="876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90684645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Rounded-Rectangle-5-1">
            <a:extLst xmlns:a="http://schemas.openxmlformats.org/drawingml/2006/main">
              <a:ext uri="{FF2B5EF4-FFF2-40B4-BE49-F238E27FC236}">
                <a16:creationId xmlns:a16="http://schemas.microsoft.com/office/drawing/2014/main" id="{8F597E41-719A-4E25-A20C-A7F9E2792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Rounded-Rectangle-6-2">
            <a:extLst xmlns:a="http://schemas.openxmlformats.org/drawingml/2006/main">
              <a:ext uri="{FF2B5EF4-FFF2-40B4-BE49-F238E27FC236}">
                <a16:creationId xmlns:a16="http://schemas.microsoft.com/office/drawing/2014/main" id="{9047B113-62C1-43E9-8963-EF1A34066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Rounded-Rectangle-7-3">
            <a:extLst xmlns:a="http://schemas.openxmlformats.org/drawingml/2006/main">
              <a:ext uri="{FF2B5EF4-FFF2-40B4-BE49-F238E27FC236}">
                <a16:creationId xmlns:a16="http://schemas.microsoft.com/office/drawing/2014/main" id="{A73D6DA1-DA2F-4C6B-86C2-BBD85FB43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Slide-Number-Placeholder-1-4">
            <a:extLst xmlns:a="http://schemas.openxmlformats.org/drawingml/2006/main">
              <a:ext uri="{FF2B5EF4-FFF2-40B4-BE49-F238E27FC236}">
                <a16:creationId xmlns:a16="http://schemas.microsoft.com/office/drawing/2014/main" id="{E588322B-4D90-4BFA-A5D4-C0422D55F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04</a:t>
            </a:r>
          </a:p>
        </p:txBody>
      </p:sp>
      <p:sp>
        <p:nvSpPr>
          <p:cNvPr id="5" name="Title-2-5">
            <a:extLst xmlns:a="http://schemas.openxmlformats.org/drawingml/2006/main">
              <a:ext uri="{FF2B5EF4-FFF2-40B4-BE49-F238E27FC236}">
                <a16:creationId xmlns:a16="http://schemas.microsoft.com/office/drawing/2014/main" id="{1866D47B-D898-4FD9-B338-A49EE966E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一次决策断点，已造成真实经营损失</a:t>
            </a:r>
          </a:p>
        </p:txBody>
      </p:sp>
      <p:sp>
        <p:nvSpPr>
          <p:cNvPr id="6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67664311-A99D-445D-99E4-74DFF1B38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99479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件滞销
库存动作未同步</a:t>
            </a:r>
          </a:p>
        </p:txBody>
      </p:sp>
      <p:sp>
        <p:nvSpPr>
          <p:cNvPr id="7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E6B32356-E23A-432C-B35D-02480EB7B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830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99479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元利润损失
发现延迟约 2 个月</a:t>
            </a:r>
          </a:p>
        </p:txBody>
      </p:sp>
      <p:sp>
        <p:nvSpPr>
          <p:cNvPr id="8" name="Content-Placeholder-11-8">
            <a:extLst xmlns:a="http://schemas.openxmlformats.org/drawingml/2006/main">
              <a:ext uri="{FF2B5EF4-FFF2-40B4-BE49-F238E27FC236}">
                <a16:creationId xmlns:a16="http://schemas.microsoft.com/office/drawing/2014/main" id="{833F3A8D-5EE1-4C79-96C2-016A81287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24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99479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元库存占用
资金被持续占用</a:t>
            </a:r>
          </a:p>
        </p:txBody>
      </p:sp>
      <p:sp>
        <p:nvSpPr>
          <p:cNvPr id="9" name="Content-Placeholder-9-9">
            <a:extLst xmlns:a="http://schemas.openxmlformats.org/drawingml/2006/main">
              <a:ext uri="{FF2B5EF4-FFF2-40B4-BE49-F238E27FC236}">
                <a16:creationId xmlns:a16="http://schemas.microsoft.com/office/drawing/2014/main" id="{86191441-5BC1-40A1-9FB2-287AC48E8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≈3,000</a:t>
            </a:r>
          </a:p>
        </p:txBody>
      </p:sp>
      <p:sp>
        <p:nvSpPr>
          <p:cNvPr id="10" name="Content-Placeholder-9-10">
            <a:extLst xmlns:a="http://schemas.openxmlformats.org/drawingml/2006/main">
              <a:ext uri="{FF2B5EF4-FFF2-40B4-BE49-F238E27FC236}">
                <a16:creationId xmlns:a16="http://schemas.microsoft.com/office/drawing/2014/main" id="{480FF6DF-0D17-47E6-8213-4867101CB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≈10万</a:t>
            </a:r>
          </a:p>
        </p:txBody>
      </p:sp>
      <p:sp>
        <p:nvSpPr>
          <p:cNvPr id="11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E039EFE1-0FC5-4C3E-A79C-5B44EBE9E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≈6万</a:t>
            </a:r>
          </a:p>
        </p:txBody>
      </p:sp>
      <p:sp>
        <p:nvSpPr>
          <p:cNvPr id="12" name="Content-Placeholder-15-12">
            <a:extLst xmlns:a="http://schemas.openxmlformats.org/drawingml/2006/main">
              <a:ext uri="{FF2B5EF4-FFF2-40B4-BE49-F238E27FC236}">
                <a16:creationId xmlns:a16="http://schemas.microsoft.com/office/drawing/2014/main" id="{9F52498B-F332-4D30-812A-6FE9AAE43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138333"/>
            <a:ext cx="11404568" cy="1599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价值先用已发生、可核验的事实表达，不推演未确认的年度收益。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</p:txBody>
      </p:sp>
      <p:sp>
        <p:nvSpPr>
          <p:cNvPr id="13" name="accent-4">
            <a:extLst xmlns:a="http://schemas.openxmlformats.org/drawingml/2006/main">
              <a:ext uri="{FF2B5EF4-FFF2-40B4-BE49-F238E27FC236}">
                <a16:creationId xmlns:a16="http://schemas.microsoft.com/office/drawing/2014/main" id="{5EA5296C-8FFC-4265-A9F8-314242488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1450"/>
            <a:ext cx="876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70305049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3653BEDC-4A93-47CC-B6FB-F42D2219B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05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439380D4-0F77-4FEF-9BEB-C3943EEBD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519"/>
            <a:ext cx="11404568" cy="6442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固定规则先判动作，AI 只解释和排序</a:t>
            </a:r>
          </a:p>
        </p:txBody>
      </p:sp>
      <p:sp>
        <p:nvSpPr>
          <p:cNvPr id="3" name="Rounded-Rectangle-1-4">
            <a:extLst xmlns:a="http://schemas.openxmlformats.org/drawingml/2006/main">
              <a:ext uri="{FF2B5EF4-FFF2-40B4-BE49-F238E27FC236}">
                <a16:creationId xmlns:a16="http://schemas.microsoft.com/office/drawing/2014/main" id="{1855197D-204A-4139-A3F0-1FAF864E2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02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D4C73CDC-734B-4684-A759-51FCB97C5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固定规则决定</a:t>
            </a:r>
          </a:p>
        </p:txBody>
      </p:sp>
      <p:sp>
        <p:nvSpPr>
          <p:cNvPr id="5" name="Content-Placeholder-15-6">
            <a:extLst xmlns:a="http://schemas.openxmlformats.org/drawingml/2006/main">
              <a:ext uri="{FF2B5EF4-FFF2-40B4-BE49-F238E27FC236}">
                <a16:creationId xmlns:a16="http://schemas.microsoft.com/office/drawing/2014/main" id="{E01D75BD-5D8F-4936-8C33-9266F4416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商品类型｜利润与品退阈值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主动作优先级｜补货冲突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清仓 &gt; 止损 &gt; 观察 &gt; 加投 &gt; 维持</a:t>
            </a:r>
          </a:p>
        </p:txBody>
      </p:sp>
      <p:sp>
        <p:nvSpPr>
          <p:cNvPr id="6" name="Rounded-Rectangle-7-7">
            <a:extLst xmlns:a="http://schemas.openxmlformats.org/drawingml/2006/main">
              <a:ext uri="{FF2B5EF4-FFF2-40B4-BE49-F238E27FC236}">
                <a16:creationId xmlns:a16="http://schemas.microsoft.com/office/drawing/2014/main" id="{4DE01CD0-7D06-4DB5-9E69-D1760AC2A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783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0B76603D-86AB-48A9-8A14-96E3DF4E9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AI 负责解释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68AB37A0-7BF1-4634-A7D3-A2645F59A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说明问题｜提取关键依据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解释排序｜给出优化提示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不得改规则｜不得猜数据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CEAB20C5-2427-48A6-B3FD-40F0A95D7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157478"/>
            <a:ext cx="11404568" cy="1629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确定性经营结论与生成式表达分开，避免模型漂移改变业务规则。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</p:txBody>
      </p:sp>
      <p:sp>
        <p:nvSpPr>
          <p:cNvPr id="10" name="accent-5">
            <a:extLst xmlns:a="http://schemas.openxmlformats.org/drawingml/2006/main">
              <a:ext uri="{FF2B5EF4-FFF2-40B4-BE49-F238E27FC236}">
                <a16:creationId xmlns:a16="http://schemas.microsoft.com/office/drawing/2014/main" id="{AA871477-23B9-451C-BEAC-189FB392D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1450"/>
            <a:ext cx="876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4952999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14DAD1C4-471C-4DF2-8AE9-C04BF2B98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06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12CE86DF-8761-47E5-832B-6860384EB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四段轻闭环，让止损同步到采购</a:t>
            </a:r>
          </a:p>
        </p:txBody>
      </p:sp>
      <p:sp>
        <p:nvSpPr>
          <p:cNvPr id="3" name="Rounded-Rectangle-6-4">
            <a:extLst xmlns:a="http://schemas.openxmlformats.org/drawingml/2006/main">
              <a:ext uri="{FF2B5EF4-FFF2-40B4-BE49-F238E27FC236}">
                <a16:creationId xmlns:a16="http://schemas.microsoft.com/office/drawing/2014/main" id="{EA755462-A4EB-4220-8818-85ACB6331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2369820"/>
            <a:ext cx="553393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9E5FE827-F995-4428-8AA1-3E7ADD5EA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77" y="2664809"/>
            <a:ext cx="4986909" cy="10484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02 规则与解释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固定规则判动作，AI 生成说明</a:t>
            </a:r>
          </a:p>
        </p:txBody>
      </p:sp>
      <p:sp>
        <p:nvSpPr>
          <p:cNvPr id="5" name="Rounded-Rectangle-8-6">
            <a:extLst xmlns:a="http://schemas.openxmlformats.org/drawingml/2006/main">
              <a:ext uri="{FF2B5EF4-FFF2-40B4-BE49-F238E27FC236}">
                <a16:creationId xmlns:a16="http://schemas.microsoft.com/office/drawing/2014/main" id="{DFFBBB29-C7BE-42CC-B108-509C8349D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04" y="2369820"/>
            <a:ext cx="553393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2D69980B-7588-4EDA-8AAE-960DD2ABD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9" y="2664809"/>
            <a:ext cx="4986909" cy="10484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01 导入与校验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每周一导入 SPU 经营表</a:t>
            </a:r>
          </a:p>
        </p:txBody>
      </p:sp>
      <p:sp>
        <p:nvSpPr>
          <p:cNvPr id="7" name="Rounded-Rectangle-1-8">
            <a:extLst xmlns:a="http://schemas.openxmlformats.org/drawingml/2006/main">
              <a:ext uri="{FF2B5EF4-FFF2-40B4-BE49-F238E27FC236}">
                <a16:creationId xmlns:a16="http://schemas.microsoft.com/office/drawing/2014/main" id="{619A68CC-02B6-416F-91D6-7B5FC3B74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4370070"/>
            <a:ext cx="553393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8" name="Content-Placeholder-10-9">
            <a:extLst xmlns:a="http://schemas.openxmlformats.org/drawingml/2006/main">
              <a:ext uri="{FF2B5EF4-FFF2-40B4-BE49-F238E27FC236}">
                <a16:creationId xmlns:a16="http://schemas.microsoft.com/office/drawing/2014/main" id="{DEDBB154-BF18-4E0B-8949-90E92DDCD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77" y="4665059"/>
            <a:ext cx="4986909" cy="10484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04 执行与结果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运营/采购更新状态和结果</a:t>
            </a:r>
          </a:p>
        </p:txBody>
      </p:sp>
      <p:sp>
        <p:nvSpPr>
          <p:cNvPr id="9" name="Rounded-Rectangle-3-10">
            <a:extLst xmlns:a="http://schemas.openxmlformats.org/drawingml/2006/main">
              <a:ext uri="{FF2B5EF4-FFF2-40B4-BE49-F238E27FC236}">
                <a16:creationId xmlns:a16="http://schemas.microsoft.com/office/drawing/2014/main" id="{BDF24371-38AB-43CB-BCF4-35B1D96B9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04" y="4370070"/>
            <a:ext cx="553393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Content-Placeholder-10-11">
            <a:extLst xmlns:a="http://schemas.openxmlformats.org/drawingml/2006/main">
              <a:ext uri="{FF2B5EF4-FFF2-40B4-BE49-F238E27FC236}">
                <a16:creationId xmlns:a16="http://schemas.microsoft.com/office/drawing/2014/main" id="{84D427F1-A0D4-4AAA-A594-81B5B3ADB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9" y="4665059"/>
            <a:ext cx="4986909" cy="10484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03 审核与分派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运营主管审核并分配角色</a:t>
            </a:r>
          </a:p>
        </p:txBody>
      </p:sp>
      <p:sp>
        <p:nvSpPr>
          <p:cNvPr id="11" name="Content-Placeholder-15-12">
            <a:extLst xmlns:a="http://schemas.openxmlformats.org/drawingml/2006/main">
              <a:ext uri="{FF2B5EF4-FFF2-40B4-BE49-F238E27FC236}">
                <a16:creationId xmlns:a16="http://schemas.microsoft.com/office/drawing/2014/main" id="{2504CC95-4403-4F0F-853B-D070A062C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057466"/>
            <a:ext cx="11404568" cy="10122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同一条建议从生成到结果均留状态；止损或清仓同步输出“禁止补货”。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</p:txBody>
      </p:sp>
      <p:sp>
        <p:nvSpPr>
          <p:cNvPr id="12" name="accent-6">
            <a:extLst xmlns:a="http://schemas.openxmlformats.org/drawingml/2006/main">
              <a:ext uri="{FF2B5EF4-FFF2-40B4-BE49-F238E27FC236}">
                <a16:creationId xmlns:a16="http://schemas.microsoft.com/office/drawing/2014/main" id="{EE9F6278-6E05-47B5-B58B-D049A7BA0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1450"/>
            <a:ext cx="876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84822482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3F0ED3D8-11DA-4C55-A8A8-74C97DAA1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07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81778CD7-17C2-46BA-B569-4866C65C9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每条建议都要写清对象、问题、依据和动作</a:t>
            </a:r>
          </a:p>
        </p:txBody>
      </p:sp>
      <p:sp>
        <p:nvSpPr>
          <p:cNvPr id="3" name="Rounded-Rectangle-6-4">
            <a:extLst xmlns:a="http://schemas.openxmlformats.org/drawingml/2006/main">
              <a:ext uri="{FF2B5EF4-FFF2-40B4-BE49-F238E27FC236}">
                <a16:creationId xmlns:a16="http://schemas.microsoft.com/office/drawing/2014/main" id="{31F92847-B1FA-4F73-869F-6B41F813D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2369820"/>
            <a:ext cx="553393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5F266C7B-5C85-4620-A5F5-306D7AB99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77" y="2664809"/>
            <a:ext cx="4986909" cy="10484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02 发现的问题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明确需要处理的经营异常</a:t>
            </a:r>
          </a:p>
        </p:txBody>
      </p:sp>
      <p:sp>
        <p:nvSpPr>
          <p:cNvPr id="5" name="Rounded-Rectangle-8-6">
            <a:extLst xmlns:a="http://schemas.openxmlformats.org/drawingml/2006/main">
              <a:ext uri="{FF2B5EF4-FFF2-40B4-BE49-F238E27FC236}">
                <a16:creationId xmlns:a16="http://schemas.microsoft.com/office/drawing/2014/main" id="{BE02C92B-9946-4EA4-84D9-E6AFF31F8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04" y="2369820"/>
            <a:ext cx="553393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16EA783C-454C-49A1-B230-2E1E4D785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9" y="2664809"/>
            <a:ext cx="4986909" cy="10484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01 具体对象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SPU ID、名称、店铺、责任运营</a:t>
            </a:r>
          </a:p>
        </p:txBody>
      </p:sp>
      <p:sp>
        <p:nvSpPr>
          <p:cNvPr id="7" name="Rounded-Rectangle-1-8">
            <a:extLst xmlns:a="http://schemas.openxmlformats.org/drawingml/2006/main">
              <a:ext uri="{FF2B5EF4-FFF2-40B4-BE49-F238E27FC236}">
                <a16:creationId xmlns:a16="http://schemas.microsoft.com/office/drawing/2014/main" id="{CF288B88-5936-4CEB-B8C3-852C51139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4370070"/>
            <a:ext cx="553393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8" name="Content-Placeholder-10-9">
            <a:extLst xmlns:a="http://schemas.openxmlformats.org/drawingml/2006/main">
              <a:ext uri="{FF2B5EF4-FFF2-40B4-BE49-F238E27FC236}">
                <a16:creationId xmlns:a16="http://schemas.microsoft.com/office/drawing/2014/main" id="{DBF4AE18-6205-43CD-A2A9-4A8753E93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77" y="4665059"/>
            <a:ext cx="4986909" cy="10484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04 推荐动作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对应角色可以直接执行</a:t>
            </a:r>
          </a:p>
        </p:txBody>
      </p:sp>
      <p:sp>
        <p:nvSpPr>
          <p:cNvPr id="9" name="Rounded-Rectangle-3-10">
            <a:extLst xmlns:a="http://schemas.openxmlformats.org/drawingml/2006/main">
              <a:ext uri="{FF2B5EF4-FFF2-40B4-BE49-F238E27FC236}">
                <a16:creationId xmlns:a16="http://schemas.microsoft.com/office/drawing/2014/main" id="{76414949-0ACE-4BBA-B20E-2BE30E058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04" y="4370070"/>
            <a:ext cx="553393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Content-Placeholder-10-11">
            <a:extLst xmlns:a="http://schemas.openxmlformats.org/drawingml/2006/main">
              <a:ext uri="{FF2B5EF4-FFF2-40B4-BE49-F238E27FC236}">
                <a16:creationId xmlns:a16="http://schemas.microsoft.com/office/drawing/2014/main" id="{A2964808-55D7-4643-B543-2BEC91D70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9" y="4665059"/>
            <a:ext cx="4986909" cy="10484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03 关键依据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周期、关键值、阈值、对比关系</a:t>
            </a:r>
          </a:p>
        </p:txBody>
      </p:sp>
      <p:sp>
        <p:nvSpPr>
          <p:cNvPr id="11" name="Content-Placeholder-15-12">
            <a:extLst xmlns:a="http://schemas.openxmlformats.org/drawingml/2006/main">
              <a:ext uri="{FF2B5EF4-FFF2-40B4-BE49-F238E27FC236}">
                <a16:creationId xmlns:a16="http://schemas.microsoft.com/office/drawing/2014/main" id="{0ED2BBFB-7A69-4108-B7FC-7C026FA3A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057466"/>
            <a:ext cx="11404568" cy="10122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建议必须可审核、可执行、可追溯，而不是只显示一个“风险”标签。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</p:txBody>
      </p:sp>
      <p:sp>
        <p:nvSpPr>
          <p:cNvPr id="12" name="accent-7">
            <a:extLst xmlns:a="http://schemas.openxmlformats.org/drawingml/2006/main">
              <a:ext uri="{FF2B5EF4-FFF2-40B4-BE49-F238E27FC236}">
                <a16:creationId xmlns:a16="http://schemas.microsoft.com/office/drawing/2014/main" id="{68D48782-4B03-49E0-9691-55C92FA4D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1450"/>
            <a:ext cx="876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48691977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4127398D-3BA1-4CD1-820A-47B077F28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08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FDB1250A-9B4F-49E2-9CF2-2CD7A2497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519"/>
            <a:ext cx="11404568" cy="6442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SPU 是唯一决策粒度；数据不足就降级，不猜测</a:t>
            </a:r>
          </a:p>
        </p:txBody>
      </p:sp>
      <p:sp>
        <p:nvSpPr>
          <p:cNvPr id="3" name="Rounded-Rectangle-1-4">
            <a:extLst xmlns:a="http://schemas.openxmlformats.org/drawingml/2006/main">
              <a:ext uri="{FF2B5EF4-FFF2-40B4-BE49-F238E27FC236}">
                <a16:creationId xmlns:a16="http://schemas.microsoft.com/office/drawing/2014/main" id="{648BB786-AAF1-49B4-BC08-4A26F2238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02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A3904781-9602-4648-84C5-84AD29A8D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首版读取数据</a:t>
            </a:r>
          </a:p>
        </p:txBody>
      </p:sp>
      <p:sp>
        <p:nvSpPr>
          <p:cNvPr id="5" name="Content-Placeholder-15-6">
            <a:extLst xmlns:a="http://schemas.openxmlformats.org/drawingml/2006/main">
              <a:ext uri="{FF2B5EF4-FFF2-40B4-BE49-F238E27FC236}">
                <a16:creationId xmlns:a16="http://schemas.microsoft.com/office/drawing/2014/main" id="{C910588A-BDF8-48D7-A410-376E06DC5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SPU 身份与上架日期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净销售额｜经营准利润率｜推广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品退｜条件库存｜近 14 天销量</a:t>
            </a:r>
          </a:p>
        </p:txBody>
      </p:sp>
      <p:sp>
        <p:nvSpPr>
          <p:cNvPr id="6" name="Rounded-Rectangle-7-7">
            <a:extLst xmlns:a="http://schemas.openxmlformats.org/drawingml/2006/main">
              <a:ext uri="{FF2B5EF4-FFF2-40B4-BE49-F238E27FC236}">
                <a16:creationId xmlns:a16="http://schemas.microsoft.com/office/drawing/2014/main" id="{FD6BC47C-BF3A-47F6-928E-1E0844AC5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783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9043F500-A994-4D10-B585-56F9514CE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安全降级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D3296AFD-7BF5-4811-9AF5-E9CB7214A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日期错误：不分类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库存缺失：不生成补货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品退未核验：不单独触发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34147F6A-1781-4A5B-8559-3A932630E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157478"/>
            <a:ext cx="11404568" cy="1629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数据边界决定建议边界：缺关键字段时宁可不生成，也不让 AI 补齐事实。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</p:txBody>
      </p:sp>
      <p:sp>
        <p:nvSpPr>
          <p:cNvPr id="10" name="accent-8">
            <a:extLst xmlns:a="http://schemas.openxmlformats.org/drawingml/2006/main">
              <a:ext uri="{FF2B5EF4-FFF2-40B4-BE49-F238E27FC236}">
                <a16:creationId xmlns:a16="http://schemas.microsoft.com/office/drawing/2014/main" id="{B014B20E-6523-4759-92E6-499DF1788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1450"/>
            <a:ext cx="876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65435306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Rounded-Rectangle-5-1">
            <a:extLst xmlns:a="http://schemas.openxmlformats.org/drawingml/2006/main">
              <a:ext uri="{FF2B5EF4-FFF2-40B4-BE49-F238E27FC236}">
                <a16:creationId xmlns:a16="http://schemas.microsoft.com/office/drawing/2014/main" id="{8853A26E-D5A8-4171-A3B3-E30D3725F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Rounded-Rectangle-6-2">
            <a:extLst xmlns:a="http://schemas.openxmlformats.org/drawingml/2006/main">
              <a:ext uri="{FF2B5EF4-FFF2-40B4-BE49-F238E27FC236}">
                <a16:creationId xmlns:a16="http://schemas.microsoft.com/office/drawing/2014/main" id="{69E1ED8A-71C5-4CC4-8F54-544C8B306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Rounded-Rectangle-7-3">
            <a:extLst xmlns:a="http://schemas.openxmlformats.org/drawingml/2006/main">
              <a:ext uri="{FF2B5EF4-FFF2-40B4-BE49-F238E27FC236}">
                <a16:creationId xmlns:a16="http://schemas.microsoft.com/office/drawing/2014/main" id="{557A3AB9-5AC5-47FA-A76E-2B1CFEBEF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Slide-Number-Placeholder-1-4">
            <a:extLst xmlns:a="http://schemas.openxmlformats.org/drawingml/2006/main">
              <a:ext uri="{FF2B5EF4-FFF2-40B4-BE49-F238E27FC236}">
                <a16:creationId xmlns:a16="http://schemas.microsoft.com/office/drawing/2014/main" id="{AE8A9936-937C-4972-853A-E4FAFEF64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09</a:t>
            </a:r>
          </a:p>
        </p:txBody>
      </p:sp>
      <p:sp>
        <p:nvSpPr>
          <p:cNvPr id="5" name="Title-2-5">
            <a:extLst xmlns:a="http://schemas.openxmlformats.org/drawingml/2006/main">
              <a:ext uri="{FF2B5EF4-FFF2-40B4-BE49-F238E27FC236}">
                <a16:creationId xmlns:a16="http://schemas.microsoft.com/office/drawing/2014/main" id="{75EBB508-59EC-43DD-BF1E-7D60B37B7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权限、追溯与 LiteLLM 边界保证可控</a:t>
            </a:r>
          </a:p>
        </p:txBody>
      </p:sp>
      <p:sp>
        <p:nvSpPr>
          <p:cNvPr id="6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EB86B756-1859-472F-A519-2FE322BFE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99479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角色最小可见
采购只看必要依据</a:t>
            </a:r>
          </a:p>
        </p:txBody>
      </p:sp>
      <p:sp>
        <p:nvSpPr>
          <p:cNvPr id="7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4C6CA2B6-66EA-428E-B951-16669F347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830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98698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系统级模型配置
普通用户不可见密钥</a:t>
            </a:r>
          </a:p>
        </p:txBody>
      </p:sp>
      <p:sp>
        <p:nvSpPr>
          <p:cNvPr id="8" name="Content-Placeholder-11-8">
            <a:extLst xmlns:a="http://schemas.openxmlformats.org/drawingml/2006/main">
              <a:ext uri="{FF2B5EF4-FFF2-40B4-BE49-F238E27FC236}">
                <a16:creationId xmlns:a16="http://schemas.microsoft.com/office/drawing/2014/main" id="{E950060D-9E53-4059-9AD2-730341C52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24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98698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规则与数据留痕
批次、期间、关键值</a:t>
            </a:r>
          </a:p>
        </p:txBody>
      </p:sp>
      <p:sp>
        <p:nvSpPr>
          <p:cNvPr id="9" name="Content-Placeholder-9-9">
            <a:extLst xmlns:a="http://schemas.openxmlformats.org/drawingml/2006/main">
              <a:ext uri="{FF2B5EF4-FFF2-40B4-BE49-F238E27FC236}">
                <a16:creationId xmlns:a16="http://schemas.microsoft.com/office/drawing/2014/main" id="{906E127C-5950-4890-A749-3B5AF47AC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权限</a:t>
            </a:r>
          </a:p>
        </p:txBody>
      </p:sp>
      <p:sp>
        <p:nvSpPr>
          <p:cNvPr id="10" name="Content-Placeholder-9-10">
            <a:extLst xmlns:a="http://schemas.openxmlformats.org/drawingml/2006/main">
              <a:ext uri="{FF2B5EF4-FFF2-40B4-BE49-F238E27FC236}">
                <a16:creationId xmlns:a16="http://schemas.microsoft.com/office/drawing/2014/main" id="{3BD01794-5F33-4F70-A660-45890F755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追溯</a:t>
            </a:r>
          </a:p>
        </p:txBody>
      </p:sp>
      <p:sp>
        <p:nvSpPr>
          <p:cNvPr id="11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B50AEC1A-B016-4106-A5EA-FD94BE0A2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运维</a:t>
            </a:r>
          </a:p>
        </p:txBody>
      </p:sp>
      <p:sp>
        <p:nvSpPr>
          <p:cNvPr id="12" name="Content-Placeholder-15-12">
            <a:extLst xmlns:a="http://schemas.openxmlformats.org/drawingml/2006/main">
              <a:ext uri="{FF2B5EF4-FFF2-40B4-BE49-F238E27FC236}">
                <a16:creationId xmlns:a16="http://schemas.microsoft.com/office/drawing/2014/main" id="{1B1F968E-DB7D-483C-A5A9-51FB7FAE3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138333"/>
            <a:ext cx="11404568" cy="1599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数据可见范围、规则证据和模型接入边界同时固定。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</p:txBody>
      </p:sp>
      <p:sp>
        <p:nvSpPr>
          <p:cNvPr id="13" name="accent-9">
            <a:extLst xmlns:a="http://schemas.openxmlformats.org/drawingml/2006/main">
              <a:ext uri="{FF2B5EF4-FFF2-40B4-BE49-F238E27FC236}">
                <a16:creationId xmlns:a16="http://schemas.microsoft.com/office/drawing/2014/main" id="{464A89C8-36EF-4102-B64C-1AFF53C05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1450"/>
            <a:ext cx="876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43399866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2876C709-74A9-4803-A8F4-4CA8F6920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10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70BDF0B8-1410-4E9E-AD7A-FF42293F6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先跑通 10—20 个真实 SPU，再补数据扩能力</a:t>
            </a:r>
          </a:p>
        </p:txBody>
      </p:sp>
      <p:cxnSp>
        <p:nvCxnSpPr>
          <p:cNvPr id="16" name="Google-Shape-2259-p159-4"/>
          <p:cNvCxnSpPr/>
          <p:nvPr/>
        </p:nvCxnSpPr>
        <p:spPr>
          <a:xfrm xmlns:a="http://schemas.openxmlformats.org/drawingml/2006/main">
            <a:off x="337757" y="3373755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0A9C3526-8AD9-434E-9EBC-5EF71D8D7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984E8224-E10F-431E-960C-B122B2129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498EB7D7-0EE9-4F64-AA7C-C076AA9E7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126C719A-75D6-407F-B2EC-4867C69ED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NOW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8EBDB0D9-401E-4F5F-B699-B8D4F8484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NEXT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A5176580-9D80-4E6C-8240-B7128C318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LATER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F1020E17-8996-4F5D-8BCA-52C544088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补齐关键数据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仓内/在途｜近 14 天销量
可信近 7 天品退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A22C3471-ECA0-4925-BF47-DC3505268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V0 试点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周导入｜固定规则
行动清单｜轻闭环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97B19B3F-692D-412D-A7FC-2EFFC1030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候选扩展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评价/退款原因｜广告明细
系统写回｜SKU</a:t>
            </a:r>
          </a:p>
        </p:txBody>
      </p:sp>
      <p:sp>
        <p:nvSpPr>
          <p:cNvPr id="13" name="accent-10">
            <a:extLst xmlns:a="http://schemas.openxmlformats.org/drawingml/2006/main">
              <a:ext uri="{FF2B5EF4-FFF2-40B4-BE49-F238E27FC236}">
                <a16:creationId xmlns:a16="http://schemas.microsoft.com/office/drawing/2014/main" id="{9EF5E04E-B2F9-499B-A34B-CBEEC9B79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1450"/>
            <a:ext cx="876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627012539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5F86852D-2154-431B-9D65-C416FDED6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11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E7F64159-5E95-448E-8D06-A365B8F40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第一版完成标准：发现至少 3 个真实问题，并且建议可执行</a:t>
            </a:r>
          </a:p>
        </p:txBody>
      </p:sp>
      <p:sp>
        <p:nvSpPr>
          <p:cNvPr id="3" name="Rounded-Rectangle-6-4">
            <a:extLst xmlns:a="http://schemas.openxmlformats.org/drawingml/2006/main">
              <a:ext uri="{FF2B5EF4-FFF2-40B4-BE49-F238E27FC236}">
                <a16:creationId xmlns:a16="http://schemas.microsoft.com/office/drawing/2014/main" id="{0CC0B779-657E-41FF-8E66-D33ACDC30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2369820"/>
            <a:ext cx="553393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3A515FE5-E0CF-468A-AEC7-0ADC471D9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77" y="2664809"/>
            <a:ext cx="4986909" cy="10484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02 真实发现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至少 3 个数据触发的经营问题</a:t>
            </a:r>
          </a:p>
        </p:txBody>
      </p:sp>
      <p:sp>
        <p:nvSpPr>
          <p:cNvPr id="5" name="Rounded-Rectangle-8-6">
            <a:extLst xmlns:a="http://schemas.openxmlformats.org/drawingml/2006/main">
              <a:ext uri="{FF2B5EF4-FFF2-40B4-BE49-F238E27FC236}">
                <a16:creationId xmlns:a16="http://schemas.microsoft.com/office/drawing/2014/main" id="{4FEB4870-6E2A-4D35-B416-F66CC6EA2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04" y="2369820"/>
            <a:ext cx="553393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3941ED9B-6CB0-4CE6-B1BD-6C89FB227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9" y="2664809"/>
            <a:ext cx="4986909" cy="10484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01 真实范围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玩具事业部 10—20 个真实 SPU</a:t>
            </a:r>
          </a:p>
        </p:txBody>
      </p:sp>
      <p:sp>
        <p:nvSpPr>
          <p:cNvPr id="7" name="Rounded-Rectangle-1-8">
            <a:extLst xmlns:a="http://schemas.openxmlformats.org/drawingml/2006/main">
              <a:ext uri="{FF2B5EF4-FFF2-40B4-BE49-F238E27FC236}">
                <a16:creationId xmlns:a16="http://schemas.microsoft.com/office/drawing/2014/main" id="{9BC8339E-8347-44E6-8F45-2205F2591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4370070"/>
            <a:ext cx="553393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8" name="Content-Placeholder-10-9">
            <a:extLst xmlns:a="http://schemas.openxmlformats.org/drawingml/2006/main">
              <a:ext uri="{FF2B5EF4-FFF2-40B4-BE49-F238E27FC236}">
                <a16:creationId xmlns:a16="http://schemas.microsoft.com/office/drawing/2014/main" id="{25790C70-AD94-4C98-94BA-2D24CB6E5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77" y="4665059"/>
            <a:ext cx="4986909" cy="10484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04 轻闭环走通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审核、执行、结果和备注可记录</a:t>
            </a:r>
          </a:p>
        </p:txBody>
      </p:sp>
      <p:sp>
        <p:nvSpPr>
          <p:cNvPr id="9" name="Rounded-Rectangle-3-10">
            <a:extLst xmlns:a="http://schemas.openxmlformats.org/drawingml/2006/main">
              <a:ext uri="{FF2B5EF4-FFF2-40B4-BE49-F238E27FC236}">
                <a16:creationId xmlns:a16="http://schemas.microsoft.com/office/drawing/2014/main" id="{8DC475B4-DF66-4FE9-B7D5-B9C3D3AB3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04" y="4370070"/>
            <a:ext cx="553393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Content-Placeholder-10-11">
            <a:extLst xmlns:a="http://schemas.openxmlformats.org/drawingml/2006/main">
              <a:ext uri="{FF2B5EF4-FFF2-40B4-BE49-F238E27FC236}">
                <a16:creationId xmlns:a16="http://schemas.microsoft.com/office/drawing/2014/main" id="{3AA58CE3-1720-43BA-9587-04B1ED3DC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9" y="4665059"/>
            <a:ext cx="4986909" cy="10484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03 可执行建议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四要素完整，固定规则可追溯</a:t>
            </a:r>
          </a:p>
        </p:txBody>
      </p:sp>
      <p:sp>
        <p:nvSpPr>
          <p:cNvPr id="11" name="Content-Placeholder-15-12">
            <a:extLst xmlns:a="http://schemas.openxmlformats.org/drawingml/2006/main">
              <a:ext uri="{FF2B5EF4-FFF2-40B4-BE49-F238E27FC236}">
                <a16:creationId xmlns:a16="http://schemas.microsoft.com/office/drawing/2014/main" id="{4E2ACEAC-CBE6-4B93-930D-8F835BBFE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057466"/>
            <a:ext cx="11404568" cy="10122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V0 以真实业务评审通过为准，不以页面数量或模型文案数量为准。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</p:txBody>
      </p:sp>
      <p:sp>
        <p:nvSpPr>
          <p:cNvPr id="12" name="accent-11">
            <a:extLst xmlns:a="http://schemas.openxmlformats.org/drawingml/2006/main">
              <a:ext uri="{FF2B5EF4-FFF2-40B4-BE49-F238E27FC236}">
                <a16:creationId xmlns:a16="http://schemas.microsoft.com/office/drawing/2014/main" id="{FCD8E6FC-89EF-4C65-9E9A-DAFC3B9E4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1450"/>
            <a:ext cx="876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72707846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2026-08-03T09:13:51.1060000Z</dcterms:created>
  <dcterms:modified xsi:type="dcterms:W3CDTF">2026-08-03T09:13:51.1060000Z</dcterms:modified>
</coreProperties>
</file>